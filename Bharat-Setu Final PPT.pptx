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67" r:id="rId4"/>
    <p:sldId id="258" r:id="rId5"/>
    <p:sldId id="268" r:id="rId6"/>
    <p:sldId id="259" r:id="rId7"/>
    <p:sldId id="261" r:id="rId8"/>
    <p:sldId id="262" r:id="rId9"/>
    <p:sldId id="270" r:id="rId10"/>
    <p:sldId id="264" r:id="rId11"/>
    <p:sldId id="269" r:id="rId12"/>
    <p:sldId id="266" r:id="rId13"/>
  </p:sldIdLst>
  <p:sldSz cx="9144000" cy="5143500" type="screen16x9"/>
  <p:notesSz cx="6858000" cy="9144000"/>
  <p:embeddedFontLst>
    <p:embeddedFont>
      <p:font typeface="Manrope" pitchFamily="2" charset="0"/>
      <p:regular r:id="rId15"/>
      <p:bold r:id="rId16"/>
    </p:embeddedFont>
    <p:embeddedFont>
      <p:font typeface="Manrope SemiBold" pitchFamily="2" charset="0"/>
      <p:regular r:id="rId1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39" autoAdjust="0"/>
    <p:restoredTop sz="91088" autoAdjust="0"/>
  </p:normalViewPr>
  <p:slideViewPr>
    <p:cSldViewPr snapToGrid="0">
      <p:cViewPr varScale="1">
        <p:scale>
          <a:sx n="99" d="100"/>
          <a:sy n="99" d="100"/>
        </p:scale>
        <p:origin x="1296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font" Target="fonts/font4.fntdata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font" Target="fonts/font3.fntdata" /><Relationship Id="rId2" Type="http://schemas.openxmlformats.org/officeDocument/2006/relationships/slide" Target="slides/slide1.xml" /><Relationship Id="rId16" Type="http://schemas.openxmlformats.org/officeDocument/2006/relationships/font" Target="fonts/font2.fntdata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font" Target="fonts/font1.fntdata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notesMaster" Target="notesMasters/notesMaster1.xml" /><Relationship Id="rId22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0" name="Google Shape;60;g3b6c7e62156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B1D90360-DACD-14BC-5819-95E1F32FD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6c7e62156_0_1:notes">
            <a:extLst>
              <a:ext uri="{FF2B5EF4-FFF2-40B4-BE49-F238E27FC236}">
                <a16:creationId xmlns:a16="http://schemas.microsoft.com/office/drawing/2014/main" id="{DACFEE19-09E9-F3A3-1844-FE509C725F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0" name="Google Shape;60;g3b6c7e62156_0_1:notes">
            <a:extLst>
              <a:ext uri="{FF2B5EF4-FFF2-40B4-BE49-F238E27FC236}">
                <a16:creationId xmlns:a16="http://schemas.microsoft.com/office/drawing/2014/main" id="{D84B7DA7-61C7-C64C-3C83-12A0564A15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9662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6" name="Google Shape;66;g3b6c7e6215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126A82F6-1840-A892-ECF0-B3CA94546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6c7e62156_0_13:notes">
            <a:extLst>
              <a:ext uri="{FF2B5EF4-FFF2-40B4-BE49-F238E27FC236}">
                <a16:creationId xmlns:a16="http://schemas.microsoft.com/office/drawing/2014/main" id="{4EEC9937-ACFB-6395-FA53-99813AC8F2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6" name="Google Shape;66;g3b6c7e62156_0_13:notes">
            <a:extLst>
              <a:ext uri="{FF2B5EF4-FFF2-40B4-BE49-F238E27FC236}">
                <a16:creationId xmlns:a16="http://schemas.microsoft.com/office/drawing/2014/main" id="{B0FA8086-2560-423D-3955-F720276AE5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72763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6c7e6215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2" name="Google Shape;72;g3b6c7e6215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c7e6215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4" name="Google Shape;84;g3b6c7e6215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0" name="Google Shape;90;g3b6c7e62156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>
          <a:extLst>
            <a:ext uri="{FF2B5EF4-FFF2-40B4-BE49-F238E27FC236}">
              <a16:creationId xmlns:a16="http://schemas.microsoft.com/office/drawing/2014/main" id="{D791D771-4D27-AEB3-E71D-59E2E442C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c7e62156_0_33:notes">
            <a:extLst>
              <a:ext uri="{FF2B5EF4-FFF2-40B4-BE49-F238E27FC236}">
                <a16:creationId xmlns:a16="http://schemas.microsoft.com/office/drawing/2014/main" id="{E270E481-2603-1F11-579D-E9C96D1932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0" name="Google Shape;90;g3b6c7e62156_0_33:notes">
            <a:extLst>
              <a:ext uri="{FF2B5EF4-FFF2-40B4-BE49-F238E27FC236}">
                <a16:creationId xmlns:a16="http://schemas.microsoft.com/office/drawing/2014/main" id="{87A4E99F-AD0F-094B-A15F-AF391F92F0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28518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02" name="Google Shape;102;g3b6c7e6215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62DD2621-C26F-2EC5-DED1-0E070D3DC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c7e62156_0_43:notes">
            <a:extLst>
              <a:ext uri="{FF2B5EF4-FFF2-40B4-BE49-F238E27FC236}">
                <a16:creationId xmlns:a16="http://schemas.microsoft.com/office/drawing/2014/main" id="{154E7583-5861-ABCB-D9F8-D3F7DD46A3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02" name="Google Shape;102;g3b6c7e62156_0_43:notes">
            <a:extLst>
              <a:ext uri="{FF2B5EF4-FFF2-40B4-BE49-F238E27FC236}">
                <a16:creationId xmlns:a16="http://schemas.microsoft.com/office/drawing/2014/main" id="{0FA67ED5-34F9-D92C-32FB-3CC1ED5A54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35105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6c7e6215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4" name="Google Shape;114;g3b6c7e6215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1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1.xml" /><Relationship Id="rId4" Type="http://schemas.openxmlformats.org/officeDocument/2006/relationships/image" Target="../media/image3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1.xml" /><Relationship Id="rId4" Type="http://schemas.openxmlformats.org/officeDocument/2006/relationships/image" Target="../media/image4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1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1.xml" /><Relationship Id="rId4" Type="http://schemas.openxmlformats.org/officeDocument/2006/relationships/image" Target="../media/image5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1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1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rtscfghgboard – 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83675" y="344699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80000"/>
              </a:lnSpc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r>
              <a:rPr lang="en-IN" sz="1600" b="1" dirty="0">
                <a:latin typeface="Manrope" panose="020B0604020202020204" charset="0"/>
              </a:rPr>
              <a:t>The Guardians</a:t>
            </a:r>
            <a:endParaRPr sz="1600" dirty="0">
              <a:solidFill>
                <a:srgbClr val="202729"/>
              </a:solidFill>
              <a:latin typeface="Manrope" panose="020B0604020202020204" charset="0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83680" y="4298159"/>
            <a:ext cx="8520600" cy="698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70000"/>
              </a:lnSpc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 </a:t>
            </a:r>
            <a:r>
              <a:rPr lang="en-US" sz="1600" dirty="0">
                <a:latin typeface="Manrope" panose="020B0604020202020204" charset="0"/>
              </a:rPr>
              <a:t>Build an AI-powered solution that supports rural ecosystems,</a:t>
            </a:r>
            <a:br>
              <a:rPr lang="en-US" sz="1600" dirty="0">
                <a:latin typeface="Manrope" panose="020B0604020202020204" charset="0"/>
              </a:rPr>
            </a:br>
            <a:r>
              <a:rPr lang="en-US" sz="1600" dirty="0">
                <a:latin typeface="Manrope" panose="020B0604020202020204" charset="0"/>
              </a:rPr>
              <a:t>                                                  sustainability, or resource-efficient systems.</a:t>
            </a:r>
            <a:endParaRPr sz="1600" dirty="0">
              <a:solidFill>
                <a:srgbClr val="202729"/>
              </a:solidFill>
              <a:latin typeface="Manrope" panose="020B0604020202020204" charset="0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83663" y="3854458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 Aditya </a:t>
            </a:r>
            <a:r>
              <a:rPr lang="en-GB" sz="1600" dirty="0" err="1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Suryawanshi</a:t>
            </a:r>
            <a:endParaRPr sz="1600" dirty="0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103356" y="419733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b="1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Times New Roman" panose="02020603050405020304" pitchFamily="18" charset="0"/>
                <a:sym typeface="Manrope"/>
              </a:rPr>
              <a:t>Brief about the Idea:</a:t>
            </a:r>
            <a:endParaRPr b="1" dirty="0">
              <a:solidFill>
                <a:srgbClr val="202729"/>
              </a:solidFill>
              <a:latin typeface="Manrope" panose="020B0604020202020204" charset="0"/>
              <a:ea typeface="Manrope"/>
              <a:cs typeface="Times New Roman" panose="02020603050405020304" pitchFamily="18" charset="0"/>
              <a:sym typeface="Manrop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F34F84-8D7E-78B0-2097-93A526B7B5BC}"/>
              </a:ext>
            </a:extLst>
          </p:cNvPr>
          <p:cNvSpPr txBox="1"/>
          <p:nvPr/>
        </p:nvSpPr>
        <p:spPr>
          <a:xfrm>
            <a:off x="103356" y="795366"/>
            <a:ext cx="8936831" cy="398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 </a:t>
            </a:r>
          </a:p>
          <a:p>
            <a:pPr algn="just"/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BHARAT-SETU: </a:t>
            </a:r>
            <a:r>
              <a:rPr lang="en-IN" sz="11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Unified Rural Intelligence Platform: </a:t>
            </a:r>
            <a:r>
              <a:rPr lang="en-IN" sz="11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Engine, Three Solutions. Powered by India’s DPI </a:t>
            </a:r>
          </a:p>
          <a:p>
            <a:pPr algn="just"/>
            <a:endParaRPr lang="en-US" sz="11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buAutoNum type="arabicPeriod"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Problem: 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Rural Data-to-Action Gap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Loss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sit on valuable ecological assets (carbon credits) but cannot monetize them due to complex, expensive verification barriers.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Blind Planning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Governments lack real-time data to predict "Distress Migration," leading to reactionary aid rather than proactive prevention.</a:t>
            </a:r>
          </a:p>
          <a:p>
            <a:pPr lvl="0" algn="just"/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The Solution: </a:t>
            </a:r>
            <a:r>
              <a:rPr lang="en-US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platform breaks this cycle by unifying </a:t>
            </a:r>
            <a:r>
              <a:rPr lang="en-US" sz="1100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powerful tools </a:t>
            </a:r>
            <a:r>
              <a:rPr lang="en-US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</a:t>
            </a:r>
            <a:r>
              <a:rPr lang="en-US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seamless engine</a:t>
            </a:r>
            <a:r>
              <a:rPr lang="en-US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endParaRPr lang="en-US" sz="1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Carbon-Kosh (The Economic Engine):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does</a:t>
            </a:r>
            <a:r>
              <a:rPr lang="en-I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Satellite AI to auto-verify Soil Organic Carbon (SOC) remotely.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Outcome: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converts this green cover into Carbon Credits, providing farmers with a verified, secondary income stream (₹3,000–₹11,000 per ton) without requiring them to install expensive sensors.</a:t>
            </a:r>
          </a:p>
          <a:p>
            <a:pPr lvl="1" algn="just"/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Gram-Twin (The Ecological Planner):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algn="just"/>
            <a:r>
              <a:rPr lang="en-IN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does: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 "Digital Twin" (3D Map) of the village using geospatial data.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Outcome: 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Sarpanches to visualize degradation hotspots and plan scientific restoration projects (MGNREGA/ now </a:t>
            </a:r>
            <a:r>
              <a:rPr lang="en-IN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Viksit Bharat-G RAM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1" algn="just"/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Migration Shield (The Social Guardian):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does: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predictive layer analyzes the financial data (Carbon Income + Crop Yields) and climate risk data to identify families at risk of economic collapse.</a:t>
            </a:r>
          </a:p>
          <a:p>
            <a:pPr lvl="1" algn="just"/>
            <a:r>
              <a:rPr lang="en-IN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Outcome: </a:t>
            </a:r>
            <a:r>
              <a:rPr lang="en-IN" sz="11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Alerts District Magistrates </a:t>
            </a:r>
            <a:r>
              <a:rPr lang="en-IN" sz="11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3 months in advance</a:t>
            </a:r>
            <a:r>
              <a:rPr lang="en-IN" sz="11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of a potential exodus, </a:t>
            </a:r>
            <a:r>
              <a:rPr lang="en-US" sz="11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acting as an "Early Warning System" for distress migration, allowing for timely government intervention.</a:t>
            </a:r>
            <a:endParaRPr lang="en-IN" sz="1100" dirty="0">
              <a:latin typeface="Manrope" panose="020B060402020202020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10E114B2-738A-DEFA-D872-84240837E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Artboarddfghjk – 6.png">
            <a:extLst>
              <a:ext uri="{FF2B5EF4-FFF2-40B4-BE49-F238E27FC236}">
                <a16:creationId xmlns:a16="http://schemas.microsoft.com/office/drawing/2014/main" id="{0ADD8791-344D-2EF6-C8D0-18BBE07F951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6328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8191CC18-EDED-86B1-661D-43A1563A8FCC}"/>
              </a:ext>
            </a:extLst>
          </p:cNvPr>
          <p:cNvSpPr txBox="1"/>
          <p:nvPr/>
        </p:nvSpPr>
        <p:spPr>
          <a:xfrm>
            <a:off x="311700" y="86355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sz="1700" b="1" dirty="0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05C82E-7FEF-B794-1B67-5ABF22E4B832}"/>
              </a:ext>
            </a:extLst>
          </p:cNvPr>
          <p:cNvSpPr txBox="1"/>
          <p:nvPr/>
        </p:nvSpPr>
        <p:spPr>
          <a:xfrm>
            <a:off x="0" y="688291"/>
            <a:ext cx="9144000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is it different from existing ideas?</a:t>
            </a:r>
          </a:p>
          <a:p>
            <a:pPr algn="just"/>
            <a:endParaRPr lang="en-I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How is it different from existing ideas?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Agri-Tech solutions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fragmented as single purpose apps offering either weather alerts, or loan access, or market linkage. 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Solution(Bharat-Setu)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first platform to integrate </a:t>
            </a:r>
            <a:r>
              <a:rPr lang="en-US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ecology (Carbon-Kosh), infrastructure (Gram-Twin), and social stability (Migration Shield)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a single feedback loop.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From "Yield-Centric" to "Value-Centric": 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competitors focus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on increasing </a:t>
            </a:r>
            <a:r>
              <a:rPr lang="en-US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yield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(which is risky and weather-dependent). 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focus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increasing asset value (paying farmers for soil health), creating a risk-free guaranteed income stream that existing solutions ignore.</a:t>
            </a:r>
          </a:p>
          <a:p>
            <a:pPr lvl="0" algn="just"/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Zero-Hardware Verification: 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carbon credit solutions 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rely on manual field visits or expensive IoT sensors. 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solution relies 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 on Remote Sensing AI (Sentinel-2), eliminating hardware costs entirely to make carbon credits accessible to small farmers.</a:t>
            </a:r>
          </a:p>
          <a:p>
            <a:pPr lvl="0" algn="just"/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will it be able to solve the problem?</a:t>
            </a:r>
          </a:p>
          <a:p>
            <a:pPr algn="just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Solving Economic Instability: 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formalizing Carbon Credits for smallholders(1-2 acres) via Carbon-Kosh, we create a "financial buffer." Even if a crop fails, the carbon income (verified by Bedrock) remains stable, preventing the immediate cash loss that forces migration.</a:t>
            </a:r>
          </a:p>
          <a:p>
            <a:pPr lvl="0" algn="just"/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Scientific Resource Allocation: 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guessing where to build infrastructure,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Gram-Twin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satellite data to pinpoint exactly where water conservation structures are needed. This ensures </a:t>
            </a:r>
            <a:r>
              <a:rPr lang="en-IN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Viksit Bharat G-RAM 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funds are spent on scientifically validated projects, solving the </a:t>
            </a:r>
            <a:r>
              <a:rPr lang="en-I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Ecological Crisis.</a:t>
            </a:r>
          </a:p>
          <a:p>
            <a:pPr lvl="0" algn="just"/>
            <a:endParaRPr lang="en-US" sz="1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Proactive Governance: 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Governments currently lack granular data on distressed families. Migration Shield uses Amazon Q to analyse financial data (</a:t>
            </a:r>
            <a:r>
              <a:rPr lang="en-I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 + Yield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generate a precise "Risk Score." This acts as an "Early Warning System," allowing officials to intervene </a:t>
            </a:r>
            <a:r>
              <a:rPr lang="en-I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family is forced to leave.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200" dirty="0">
              <a:latin typeface="Manrope" panose="020B0604020202020204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770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5878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1" y="682907"/>
            <a:ext cx="9144000" cy="4434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just"/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USP (Unique Selling Proposition):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spcAft>
                <a:spcPts val="170"/>
              </a:spcAft>
              <a:buFont typeface="+mj-lt"/>
              <a:buAutoNum type="arabicPeriod"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Zero-Hardware Scalability (The Cost Benefit): </a:t>
            </a:r>
          </a:p>
          <a:p>
            <a:pPr algn="just">
              <a:spcAft>
                <a:spcPts val="170"/>
              </a:spcAft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Unlike competitors requiring ₹50,000 IoT sensors per farm, our Hardware-Free Architecture uses free Sentinel-2 satellite data processed by Amazon      </a:t>
            </a:r>
          </a:p>
          <a:p>
            <a:pPr algn="just">
              <a:spcAft>
                <a:spcPts val="170"/>
              </a:spcAft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SageMaker. We can onboard 146 Million hectares of Indian farmland instantly at ₹0 hardware cost.</a:t>
            </a:r>
          </a:p>
          <a:p>
            <a:pPr algn="just"/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50"/>
              </a:spcAft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The "Double-Dip" Income Model (The Value Benefit): </a:t>
            </a:r>
          </a:p>
          <a:p>
            <a:pPr algn="just">
              <a:spcAft>
                <a:spcPts val="50"/>
              </a:spcAft>
            </a:pPr>
            <a:endParaRPr lang="en-I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spcAft>
                <a:spcPts val="50"/>
              </a:spcAft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We are the only platform that monetizes the same pixel of land twice:</a:t>
            </a:r>
          </a:p>
          <a:p>
            <a:pPr algn="just">
              <a:spcAft>
                <a:spcPts val="50"/>
              </a:spcAft>
            </a:pPr>
            <a:endParaRPr lang="en-US" sz="11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50"/>
              </a:spcAft>
            </a:pPr>
            <a:r>
              <a:rPr lang="en-IN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Agricultural Yield (Food): 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traditional crop income.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spcAft>
                <a:spcPts val="50"/>
              </a:spcAft>
            </a:pPr>
            <a:r>
              <a:rPr lang="en-IN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Carbon Sequestration (Credits): 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verified secondary income generated by Bedrock Agents. </a:t>
            </a:r>
            <a:r>
              <a:rPr lang="en-I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creates a 20-30% guaranteed income floor for     </a:t>
            </a:r>
          </a:p>
          <a:p>
            <a:pPr lvl="0" algn="just">
              <a:spcAft>
                <a:spcPts val="50"/>
              </a:spcAft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farmers, ensuring financial survival even if monsoons fail.</a:t>
            </a:r>
          </a:p>
          <a:p>
            <a:pPr lvl="0" algn="just"/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Sovereign AI Sovereignty (The Trust Benefit): </a:t>
            </a:r>
          </a:p>
          <a:p>
            <a:pPr algn="just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While others rely on Western models, our intelligence is built on </a:t>
            </a:r>
            <a:r>
              <a:rPr lang="en-US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Digital Public Infrastructure (DPI)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integrating </a:t>
            </a:r>
            <a:r>
              <a:rPr lang="en-US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Bhashini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language and    </a:t>
            </a:r>
          </a:p>
          <a:p>
            <a:pPr algn="just"/>
            <a:r>
              <a:rPr lang="en-US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1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MapMyIndia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local context which ensures that data stays sovereign and locally relevant.</a:t>
            </a:r>
          </a:p>
          <a:p>
            <a:pPr algn="just"/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Self-Sustaining Model (The Business Benefit): </a:t>
            </a:r>
          </a:p>
          <a:p>
            <a:pPr algn="just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The system pays for itself. A small transaction fee on the carbon credits generated funds the AWS Cloud infrastructure, removing the dependency on eternal             </a:t>
            </a:r>
          </a:p>
          <a:p>
            <a:pPr algn="just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government grants and ensuring long-term viability.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200" dirty="0">
                <a:latin typeface="Manrope" panose="020B0604020202020204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9FF5F49E-0BA4-3EFF-6AA4-B7452DF13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 title="Artboarddfghjk – 6.png">
            <a:extLst>
              <a:ext uri="{FF2B5EF4-FFF2-40B4-BE49-F238E27FC236}">
                <a16:creationId xmlns:a16="http://schemas.microsoft.com/office/drawing/2014/main" id="{51FDB71F-56D2-3673-1EA5-26399E76935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29C7B65A-B008-2929-C9AC-EA8184EA50C7}"/>
              </a:ext>
            </a:extLst>
          </p:cNvPr>
          <p:cNvSpPr txBox="1"/>
          <p:nvPr/>
        </p:nvSpPr>
        <p:spPr>
          <a:xfrm>
            <a:off x="0" y="462594"/>
            <a:ext cx="9144000" cy="4580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List &amp; Technical Vision: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 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Bharat-Setu Unified Ecosystem: </a:t>
            </a:r>
            <a:r>
              <a:rPr lang="en-I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Engine, Three Solutions. Powered by India’s DPI.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b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Automated Carbon Quantification (Carbon-Kosh)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Function: A "Zero-Touch" verification engine for Carbon Credits.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Tech Stack: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lang="en-I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Sentinel-2 Satellite Imagery 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(Open Source).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</a:t>
            </a:r>
            <a:r>
              <a:rPr lang="en-I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Amazon SageMaker 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the </a:t>
            </a:r>
            <a:r>
              <a:rPr lang="en-I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NDVI analysis 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measure green cover on small farms (1-2 acres).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Auto-generates a text-based "Carbon Credit Certificate," eliminating the need for physical inspections.</a:t>
            </a:r>
          </a:p>
          <a:p>
            <a:pPr lvl="1" algn="just"/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Precision Ecological Planning (Gram-Twin)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Function: A "</a:t>
            </a:r>
            <a:r>
              <a:rPr lang="en-IN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Twin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(3D Map) for Village Administration.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Tech Stack: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Layer: </a:t>
            </a:r>
            <a:r>
              <a:rPr lang="en-IN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MapMyIndia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11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Mappls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APIs for hyper-local Indian terrain data.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Analysis: </a:t>
            </a:r>
            <a:r>
              <a:rPr lang="en-IN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Q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aggregates this with farm data to identify "Degradation Hotspots" (high soil erosion areas).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 Enables the Sarpanch to plan </a:t>
            </a:r>
            <a:r>
              <a:rPr lang="en-IN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Viksit Bharat G-RAM 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projects exactly where the land needs healing.</a:t>
            </a: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Predictive Distress Monitoring (Migration Shield)</a:t>
            </a: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Function: A proactive "Migration Early Warning System" (MEWS).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Tech Stack: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Interface</a:t>
            </a:r>
            <a:r>
              <a:rPr lang="en-IN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Bhashini (Bhashini-ASR/TTS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accurate dialect support (</a:t>
            </a:r>
            <a:r>
              <a:rPr lang="en-I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Bhojpuri, Marathi, Tamil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Intelligence: </a:t>
            </a:r>
            <a:r>
              <a:rPr lang="en-IN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Bedrock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acts as the "Reasoning Brain" behind Bhashini, translating the farmer's voice intent into database queries.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1" indent="-171450" algn="just"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 Triggers "Distress Alerts" 60-90 days before mass migration, allowing District Magistrates to intervene early.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200" dirty="0">
              <a:latin typeface="Manrope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040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852066" y="1808708"/>
            <a:ext cx="8552521" cy="4131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endParaRPr lang="en-US" sz="1200" dirty="0">
              <a:solidFill>
                <a:srgbClr val="202729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B8B3377-2CD0-761A-2DDD-18FDB1A3B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619" y="646081"/>
            <a:ext cx="18213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altLang="en-US" b="1" i="0" u="none" strike="noStrike" cap="none" normalizeH="0" baseline="0" dirty="0">
                <a:ln>
                  <a:noFill/>
                </a:ln>
                <a:solidFill>
                  <a:srgbClr val="202729"/>
                </a:solidFill>
                <a:effectLst/>
                <a:latin typeface="Manrope" panose="020B0604020202020204" charset="0"/>
                <a:ea typeface="Manrope" panose="020B0604020202020204" charset="0"/>
                <a:cs typeface="Times New Roman" panose="02020603050405020304" pitchFamily="18" charset="0"/>
              </a:rPr>
              <a:t>Use Case Diagram: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anrope" panose="020B060402020202020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anrope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6066450E-6E78-9E7A-BD0F-7B6F9996FB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519" y="1094721"/>
            <a:ext cx="7454097" cy="372109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A1F0857D-30FA-2F39-E911-1CFFBCA12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033" y="4296583"/>
            <a:ext cx="184731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GB" altLang="en-US" sz="2000" b="1" i="0" u="none" strike="noStrike" cap="none" normalizeH="0" baseline="0">
                <a:ln>
                  <a:noFill/>
                </a:ln>
                <a:solidFill>
                  <a:srgbClr val="202729"/>
                </a:solidFill>
                <a:effectLst/>
                <a:latin typeface="Times New Roman" panose="02020603050405020304" pitchFamily="18" charset="0"/>
                <a:ea typeface="Manrope" panose="020B0604020202020204" charset="0"/>
                <a:cs typeface="Times New Roman" panose="02020603050405020304" pitchFamily="18" charset="0"/>
              </a:rPr>
            </a:br>
            <a:br>
              <a:rPr kumimoji="0" lang="en-GB" altLang="en-US" sz="2000" b="1" i="0" u="none" strike="noStrike" cap="none" normalizeH="0" baseline="0">
                <a:ln>
                  <a:noFill/>
                </a:ln>
                <a:solidFill>
                  <a:srgbClr val="202729"/>
                </a:solidFill>
                <a:effectLst/>
                <a:latin typeface="Times New Roman" panose="02020603050405020304" pitchFamily="18" charset="0"/>
                <a:ea typeface="Manrope" panose="020B0604020202020204" charset="0"/>
                <a:cs typeface="Times New Roman" panose="02020603050405020304" pitchFamily="18" charset="0"/>
              </a:rPr>
            </a:br>
            <a:endParaRPr kumimoji="0" lang="en-GB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8"/>
          <p:cNvSpPr txBox="1"/>
          <p:nvPr/>
        </p:nvSpPr>
        <p:spPr>
          <a:xfrm>
            <a:off x="81022" y="590308"/>
            <a:ext cx="7762477" cy="3942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US" b="1" dirty="0">
                <a:solidFill>
                  <a:srgbClr val="202729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Architecture diagram of the proposed solution:</a:t>
            </a:r>
            <a:endParaRPr lang="en-US" dirty="0">
              <a:solidFill>
                <a:srgbClr val="434343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6BE144-35CB-EBAA-D389-E96240C634A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9222" y="970142"/>
            <a:ext cx="8913756" cy="40819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6328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0" y="636609"/>
            <a:ext cx="9144000" cy="4398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GB" b="1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Times New Roman" panose="02020603050405020304" pitchFamily="18" charset="0"/>
                <a:sym typeface="Manrope"/>
              </a:rPr>
              <a:t>Technologies to be used in the solution:</a:t>
            </a:r>
          </a:p>
          <a:p>
            <a:pPr algn="just">
              <a:lnSpc>
                <a:spcPct val="120000"/>
              </a:lnSpc>
            </a:pPr>
            <a:r>
              <a:rPr lang="en-GB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"Bharat-First" Tech Stack: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1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Zero-License Cost, Open-Source, and DPI-Integrated.</a:t>
            </a:r>
          </a:p>
          <a:p>
            <a:pPr algn="just">
              <a:lnSpc>
                <a:spcPct val="120000"/>
              </a:lnSpc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GB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Core Intelligence (The AI Engine):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Sentinel-2 (ESA) / Landsat-9: 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Sourcing free multispectral satellite imagery (Red/NIR bands).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SageMaker: 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custom </a:t>
            </a:r>
            <a:r>
              <a:rPr lang="en-GB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NDVI &amp; Random Forest models 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historical data.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(</a:t>
            </a:r>
            <a:r>
              <a:rPr lang="en-GB" sz="11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Rasterio</a:t>
            </a:r>
            <a:r>
              <a:rPr lang="en-GB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GB" sz="11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Geopandas</a:t>
            </a:r>
            <a:r>
              <a:rPr lang="en-GB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geospatial raster data to calculate Green Cover density.</a:t>
            </a:r>
          </a:p>
          <a:p>
            <a:pPr algn="just">
              <a:lnSpc>
                <a:spcPct val="150000"/>
              </a:lnSpc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GB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Cloud Infrastructure (The Backbone):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Lambda (Serverless): 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Event-driven compute that runs code only when a user makes a request.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PostgreSQL + </a:t>
            </a:r>
            <a:r>
              <a:rPr lang="en-GB" sz="11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PostGIS</a:t>
            </a:r>
            <a:r>
              <a:rPr lang="en-GB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Storing complex village boundaries and farm polygons.</a:t>
            </a:r>
          </a:p>
          <a:p>
            <a:pPr algn="just">
              <a:lnSpc>
                <a:spcPct val="150000"/>
              </a:lnSpc>
            </a:pPr>
            <a:endParaRPr lang="en-GB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GB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Digital Public Infrastructure (The Interface):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Bhashini API (</a:t>
            </a:r>
            <a:r>
              <a:rPr lang="en-GB" sz="11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MeitY</a:t>
            </a:r>
            <a:r>
              <a:rPr lang="en-GB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</a:t>
            </a:r>
            <a:r>
              <a:rPr lang="en-GB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Speech-to-Text (ASR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local dialects (</a:t>
            </a:r>
            <a:r>
              <a:rPr lang="en-GB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Bhojpuri, Hindi, Tamil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MapMyIndia</a:t>
            </a:r>
            <a:r>
              <a:rPr lang="en-GB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GB" sz="1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Mappls</a:t>
            </a:r>
            <a:r>
              <a:rPr lang="en-GB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Hyper-local visualization and geofencing.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Native (Frontend): </a:t>
            </a:r>
            <a:r>
              <a:rPr lang="en-GB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framework.</a:t>
            </a:r>
          </a:p>
          <a:p>
            <a:pPr marL="457200" lvl="1" algn="just">
              <a:lnSpc>
                <a:spcPct val="120000"/>
              </a:lnSpc>
            </a:pPr>
            <a:endParaRPr lang="en-GB" sz="1100" dirty="0">
              <a:latin typeface="Manrope" panose="020B060402020202020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5000"/>
              </a:lnSpc>
              <a:spcAft>
                <a:spcPts val="1200"/>
              </a:spcAft>
              <a:buSzPts val="935"/>
            </a:pPr>
            <a:endParaRPr lang="en-GB" sz="1100" dirty="0">
              <a:solidFill>
                <a:srgbClr val="434343"/>
              </a:solidFill>
              <a:latin typeface="Manrope" panose="020B0604020202020204" charset="0"/>
              <a:ea typeface="Manrope"/>
              <a:cs typeface="Times New Roman" panose="02020603050405020304" pitchFamily="18" charset="0"/>
              <a:sym typeface="Manro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>
          <a:extLst>
            <a:ext uri="{FF2B5EF4-FFF2-40B4-BE49-F238E27FC236}">
              <a16:creationId xmlns:a16="http://schemas.microsoft.com/office/drawing/2014/main" id="{6FFD8573-7083-7E0C-ABE0-55F139F64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 title="Artboarddfghjk – 6.png">
            <a:extLst>
              <a:ext uri="{FF2B5EF4-FFF2-40B4-BE49-F238E27FC236}">
                <a16:creationId xmlns:a16="http://schemas.microsoft.com/office/drawing/2014/main" id="{892D5AC2-70FF-8B4B-466C-E6F97FAD72E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6328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>
            <a:extLst>
              <a:ext uri="{FF2B5EF4-FFF2-40B4-BE49-F238E27FC236}">
                <a16:creationId xmlns:a16="http://schemas.microsoft.com/office/drawing/2014/main" id="{91FA545E-3EC0-1972-EE79-5354994AA0C3}"/>
              </a:ext>
            </a:extLst>
          </p:cNvPr>
          <p:cNvSpPr txBox="1"/>
          <p:nvPr/>
        </p:nvSpPr>
        <p:spPr>
          <a:xfrm>
            <a:off x="0" y="636609"/>
            <a:ext cx="9144000" cy="4398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GB" b="1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Times New Roman" panose="02020603050405020304" pitchFamily="18" charset="0"/>
                <a:sym typeface="Manrope"/>
              </a:rPr>
              <a:t>Technologies to be used in the solution:</a:t>
            </a:r>
          </a:p>
          <a:p>
            <a:pPr marL="457200" lvl="1" algn="just">
              <a:lnSpc>
                <a:spcPct val="120000"/>
              </a:lnSpc>
            </a:pPr>
            <a:endParaRPr lang="en-GB" sz="1100" dirty="0">
              <a:latin typeface="Manrope" panose="020B060402020202020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5000"/>
              </a:lnSpc>
              <a:spcAft>
                <a:spcPts val="1200"/>
              </a:spcAft>
              <a:buSzPts val="935"/>
            </a:pPr>
            <a:endParaRPr lang="en-GB" sz="1100" dirty="0">
              <a:solidFill>
                <a:srgbClr val="434343"/>
              </a:solidFill>
              <a:latin typeface="Manrope" panose="020B0604020202020204" charset="0"/>
              <a:ea typeface="Manrope"/>
              <a:cs typeface="Times New Roman" panose="02020603050405020304" pitchFamily="18" charset="0"/>
              <a:sym typeface="Manrope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A748B7-264F-632C-512E-F6C9C1CAB2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60" y="1049408"/>
            <a:ext cx="7764780" cy="386549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66333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499533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0" y="431750"/>
            <a:ext cx="8936831" cy="4483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b="1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Times New Roman" panose="02020603050405020304" pitchFamily="18" charset="0"/>
                <a:sym typeface="Manrope"/>
              </a:rPr>
              <a:t>Estimated implementation cost (optional):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dirty="0">
              <a:solidFill>
                <a:srgbClr val="434343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547D81D-C57C-B5FA-2FC8-B52843EC39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927872"/>
              </p:ext>
            </p:extLst>
          </p:nvPr>
        </p:nvGraphicFramePr>
        <p:xfrm>
          <a:off x="1" y="1016769"/>
          <a:ext cx="9144000" cy="2945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674981717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3786242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57076938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420116619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764356504"/>
                    </a:ext>
                  </a:extLst>
                </a:gridCol>
              </a:tblGrid>
              <a:tr h="31982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Category</a:t>
                      </a:r>
                      <a:endParaRPr lang="en-IN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Component</a:t>
                      </a:r>
                      <a:endParaRPr lang="en-IN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Scale / Usage</a:t>
                      </a:r>
                      <a:endParaRPr lang="en-IN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Cost Type</a:t>
                      </a:r>
                      <a:endParaRPr lang="en-IN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Est. Cost (INR)</a:t>
                      </a:r>
                      <a:endParaRPr lang="en-IN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457035447"/>
                  </a:ext>
                </a:extLst>
              </a:tr>
              <a:tr h="5233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Generative AI</a:t>
                      </a:r>
                      <a:endParaRPr lang="en-IN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sv-SE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Amazon Bedrock</a:t>
                      </a:r>
                      <a:r>
                        <a:rPr lang="sv-SE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(Claude 3.5 Sonnet)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5M Tokens (Voice Queries)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Monthly OpEx</a:t>
                      </a:r>
                      <a:endParaRPr lang="en-IN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₹1,500</a:t>
                      </a:r>
                      <a:endParaRPr lang="en-IN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631196462"/>
                  </a:ext>
                </a:extLst>
              </a:tr>
              <a:tr h="5233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Compute Core</a:t>
                      </a:r>
                      <a:endParaRPr lang="en-IN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AWS Lambda</a:t>
                      </a:r>
                      <a:r>
                        <a:rPr lang="en-IN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(Serverless)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100k Events (On-Demand)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Monthly OpEx</a:t>
                      </a:r>
                      <a:endParaRPr lang="en-IN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₹200</a:t>
                      </a:r>
                      <a:endParaRPr lang="en-IN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925265432"/>
                  </a:ext>
                </a:extLst>
              </a:tr>
              <a:tr h="62907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Satellite AI</a:t>
                      </a:r>
                      <a:endParaRPr lang="en-IN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SageMaker Inference</a:t>
                      </a:r>
                      <a:r>
                        <a:rPr lang="en-IN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 (Spot Instances)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Batch Processing (Weekly)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Monthly </a:t>
                      </a:r>
                      <a:r>
                        <a:rPr lang="en-IN" b="1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OpEx</a:t>
                      </a:r>
                      <a:endParaRPr lang="en-IN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₹1,600</a:t>
                      </a:r>
                      <a:endParaRPr lang="en-IN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564083998"/>
                  </a:ext>
                </a:extLst>
              </a:tr>
              <a:tr h="5233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Data &amp; Maps</a:t>
                      </a:r>
                      <a:endParaRPr lang="en-IN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RDS + S3 + MapMyIndia</a:t>
                      </a:r>
                      <a:endParaRPr lang="en-IN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Village Data &amp; Maps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Monthly </a:t>
                      </a:r>
                      <a:r>
                        <a:rPr lang="en-IN" b="1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OpEx</a:t>
                      </a:r>
                      <a:endParaRPr lang="en-IN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₹1,400</a:t>
                      </a:r>
                      <a:endParaRPr lang="en-IN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149716110"/>
                  </a:ext>
                </a:extLst>
              </a:tr>
              <a:tr h="31982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Admin Dashboard</a:t>
                      </a:r>
                      <a:endParaRPr lang="en-IN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Amazon Q Business</a:t>
                      </a:r>
                      <a:endParaRPr lang="en-IN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2 System Admins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Monthly OpEx</a:t>
                      </a:r>
                      <a:endParaRPr lang="en-IN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₹500</a:t>
                      </a:r>
                      <a:endParaRPr lang="en-IN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78485523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5097BEF5-3F00-086A-74DE-D45555694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1" title="Artboarddfghjk – 6.png">
            <a:extLst>
              <a:ext uri="{FF2B5EF4-FFF2-40B4-BE49-F238E27FC236}">
                <a16:creationId xmlns:a16="http://schemas.microsoft.com/office/drawing/2014/main" id="{A833EA9E-42EA-0C5C-E7C7-81666AA54E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499533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>
            <a:extLst>
              <a:ext uri="{FF2B5EF4-FFF2-40B4-BE49-F238E27FC236}">
                <a16:creationId xmlns:a16="http://schemas.microsoft.com/office/drawing/2014/main" id="{EFB50493-7D9A-02DA-DB9C-6935CB729B60}"/>
              </a:ext>
            </a:extLst>
          </p:cNvPr>
          <p:cNvSpPr txBox="1"/>
          <p:nvPr/>
        </p:nvSpPr>
        <p:spPr>
          <a:xfrm>
            <a:off x="0" y="431750"/>
            <a:ext cx="9144000" cy="4483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 b="1" dirty="0">
                <a:solidFill>
                  <a:srgbClr val="202729"/>
                </a:solidFill>
                <a:latin typeface="Manrope" panose="020B0604020202020204" charset="0"/>
                <a:ea typeface="Manrope"/>
                <a:cs typeface="Times New Roman" panose="02020603050405020304" pitchFamily="18" charset="0"/>
                <a:sym typeface="Manrope"/>
              </a:rPr>
              <a:t>Estimated implementation cost (optional):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lang="en-US" dirty="0">
              <a:solidFill>
                <a:srgbClr val="434343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lang="en-US" dirty="0">
              <a:solidFill>
                <a:srgbClr val="434343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lang="en-US" dirty="0">
              <a:solidFill>
                <a:srgbClr val="434343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lang="en-US" dirty="0">
              <a:solidFill>
                <a:srgbClr val="434343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endParaRPr lang="en-IN" dirty="0">
              <a:solidFill>
                <a:srgbClr val="434343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endParaRPr lang="en-IN" b="1" i="1" dirty="0">
              <a:solidFill>
                <a:srgbClr val="434343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  <a:p>
            <a:pPr lvl="0">
              <a:lnSpc>
                <a:spcPct val="115000"/>
              </a:lnSpc>
              <a:spcAft>
                <a:spcPts val="1200"/>
              </a:spcAft>
              <a:buSzPts val="935"/>
            </a:pPr>
            <a:r>
              <a:rPr lang="en-IN" b="1" i="1" dirty="0">
                <a:solidFill>
                  <a:srgbClr val="434343"/>
                </a:solidFill>
                <a:latin typeface="Times New Roman" panose="02020603050405020304" pitchFamily="18" charset="0"/>
                <a:ea typeface="Manrope"/>
                <a:cs typeface="Times New Roman" panose="02020603050405020304" pitchFamily="18" charset="0"/>
                <a:sym typeface="Manrope"/>
              </a:rPr>
              <a:t>Note: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Costs for a Pilot Cluster (50 Villages / ~5,000 Farmers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b="1" dirty="0">
              <a:solidFill>
                <a:srgbClr val="434343"/>
              </a:solidFill>
              <a:latin typeface="Times New Roman" panose="02020603050405020304" pitchFamily="18" charset="0"/>
              <a:ea typeface="Manrope"/>
              <a:cs typeface="Times New Roman" panose="02020603050405020304" pitchFamily="18" charset="0"/>
              <a:sym typeface="Manrope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DBB3A0E-7A77-49BC-DCA7-D3D0E20805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48100"/>
              </p:ext>
            </p:extLst>
          </p:nvPr>
        </p:nvGraphicFramePr>
        <p:xfrm>
          <a:off x="0" y="1014601"/>
          <a:ext cx="9144000" cy="21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4259803057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4103984326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33026295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531190216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770988410"/>
                    </a:ext>
                  </a:extLst>
                </a:gridCol>
              </a:tblGrid>
              <a:tr h="39137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Category</a:t>
                      </a:r>
                      <a:endParaRPr lang="en-IN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Component</a:t>
                      </a:r>
                      <a:endParaRPr lang="en-IN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Scale / Usage</a:t>
                      </a:r>
                      <a:endParaRPr lang="en-IN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Cost Type</a:t>
                      </a:r>
                      <a:endParaRPr lang="en-IN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Est. Cost (INR)</a:t>
                      </a:r>
                      <a:endParaRPr lang="en-IN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014365774"/>
                  </a:ext>
                </a:extLst>
              </a:tr>
              <a:tr h="579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Indian DPI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Bhashini API</a:t>
                      </a:r>
                      <a:r>
                        <a:rPr lang="en-IN"/>
                        <a:t> (Voice)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Unlimited (Startup Tier)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Monthly </a:t>
                      </a:r>
                      <a:r>
                        <a:rPr lang="en-IN" b="1" dirty="0" err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OpEx</a:t>
                      </a:r>
                      <a:endParaRPr lang="en-IN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b="1" dirty="0"/>
                        <a:t>₹0</a:t>
                      </a:r>
                      <a:endParaRPr lang="en-IN" dirty="0"/>
                    </a:p>
                    <a:p>
                      <a:pPr rtl="0">
                        <a:buNone/>
                      </a:pPr>
                      <a:endParaRPr lang="en-IN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765076131"/>
                  </a:ext>
                </a:extLst>
              </a:tr>
              <a:tr h="57901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TOTAL RUNNING COST</a:t>
                      </a:r>
                      <a:endParaRPr lang="en-IN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(Sustainability Factor)</a:t>
                      </a:r>
                      <a:endParaRPr lang="en-IN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To maintain 50 Villages</a:t>
                      </a:r>
                      <a:endParaRPr lang="en-IN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Monthly</a:t>
                      </a:r>
                      <a:endParaRPr lang="en-IN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~ ₹5,200 / Month</a:t>
                      </a:r>
                      <a:endParaRPr lang="en-IN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69069595"/>
                  </a:ext>
                </a:extLst>
              </a:tr>
              <a:tr h="57901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AI INNOVATION</a:t>
                      </a:r>
                      <a:endParaRPr lang="en-IN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SageMaker Model Training</a:t>
                      </a:r>
                      <a:endParaRPr lang="en-IN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One-Time Deep Learning Setup</a:t>
                      </a: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One-Time CapEx</a:t>
                      </a:r>
                      <a:endParaRPr lang="en-IN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  <a:latin typeface="Google Sans Text"/>
                        </a:rPr>
                        <a:t>₹15,000</a:t>
                      </a:r>
                      <a:endParaRPr lang="en-IN" dirty="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3069230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8121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3" title="AI for Bharddat BANNER – 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1093</TotalTime>
  <Words>1498</Words>
  <Application>Microsoft Office PowerPoint</Application>
  <PresentationFormat>On-screen Show (16:9)</PresentationFormat>
  <Paragraphs>168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Aditya</dc:creator>
  <cp:lastModifiedBy>uddhav bhople</cp:lastModifiedBy>
  <cp:revision>83</cp:revision>
  <dcterms:modified xsi:type="dcterms:W3CDTF">2026-02-13T15:59:25Z</dcterms:modified>
</cp:coreProperties>
</file>